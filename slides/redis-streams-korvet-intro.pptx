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jeremy-plichta-git-eda-with-redis-streams/7311b6c2-0fa9-4eba-8e1d-a004b5e1d2ab/scratchpad/deckbuild/assets/redis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65760"/>
            <a:ext cx="1227036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0020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 Streams, Kafka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&amp; Korvet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384048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 streaming — and how the same workload runs on Redis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84048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Jeremy Plichta  ·  July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84048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>
                    <a:alpha val="5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QUICK MYTH TO BUST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84048" y="96012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“Isn’t Redis just a cache?”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84048" y="201168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 is a </a:t>
            </a:r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data-structure server</a:t>
            </a:r>
            <a:pPr indent="0" marL="0">
              <a:lnSpc>
                <a:spcPct val="10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— fast, in-memory, and far more than a cache.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3337560"/>
            <a:ext cx="8375904" cy="914400"/>
          </a:xfrm>
          <a:prstGeom prst="roundRect">
            <a:avLst>
              <a:gd name="adj" fmla="val 10000"/>
            </a:avLst>
          </a:prstGeom>
          <a:solidFill>
            <a:srgbClr val="163341"/>
          </a:solidFill>
          <a:ln w="12700">
            <a:solidFill>
              <a:srgbClr val="1633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4564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878K ops/sec  ·  ~1.3 ms latency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378561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European telecom runs real-time mobile signaling on Redis at this scale — serious real-time infrastructure, not a side cache.</a:t>
            </a:r>
            <a:endParaRPr lang="en-US" sz="1250" dirty="0"/>
          </a:p>
        </p:txBody>
      </p:sp>
      <p:pic>
        <p:nvPicPr>
          <p:cNvPr id="8" name="Image 0" descr="/private/tmp/claude-502/-Users-jeremy-plichta-git-eda-with-redis-streams/7311b6c2-0fa9-4eba-8e1d-a004b5e1d2ab/scratchpad/deckbuild/assets/redis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4718304"/>
            <a:ext cx="642733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8732520" y="47548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 is a data-structure server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Pick the right structure for the job — the Stream is one of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84048" y="1371600"/>
            <a:ext cx="1956816" cy="896112"/>
          </a:xfrm>
          <a:prstGeom prst="roundRect">
            <a:avLst>
              <a:gd name="adj" fmla="val 6122"/>
            </a:avLst>
          </a:prstGeom>
          <a:solidFill>
            <a:srgbClr val="F2F2F2"/>
          </a:solidFill>
          <a:ln w="12700">
            <a:solidFill>
              <a:srgbClr val="B9C2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45336"/>
            <a:ext cx="146304" cy="146304"/>
          </a:xfrm>
          <a:prstGeom prst="ellipse">
            <a:avLst/>
          </a:prstGeom>
          <a:solidFill>
            <a:srgbClr val="0F7B8F"/>
          </a:solidFill>
          <a:ln w="12700">
            <a:solidFill>
              <a:srgbClr val="0F7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481328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Strings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1847088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cache, counters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23744" y="1371600"/>
            <a:ext cx="1956816" cy="896112"/>
          </a:xfrm>
          <a:prstGeom prst="roundRect">
            <a:avLst>
              <a:gd name="adj" fmla="val 6122"/>
            </a:avLst>
          </a:prstGeom>
          <a:solidFill>
            <a:srgbClr val="F2F2F2"/>
          </a:solidFill>
          <a:ln w="12700">
            <a:solidFill>
              <a:srgbClr val="B9C2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336" y="1545336"/>
            <a:ext cx="146304" cy="146304"/>
          </a:xfrm>
          <a:prstGeom prst="ellipse">
            <a:avLst/>
          </a:prstGeom>
          <a:solidFill>
            <a:srgbClr val="80DBFF"/>
          </a:solidFill>
          <a:ln w="12700">
            <a:solidFill>
              <a:srgbClr val="80D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481328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Hashes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706624" y="1847088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objects &amp; fields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56816" cy="896112"/>
          </a:xfrm>
          <a:prstGeom prst="roundRect">
            <a:avLst>
              <a:gd name="adj" fmla="val 6122"/>
            </a:avLst>
          </a:prstGeom>
          <a:solidFill>
            <a:srgbClr val="F2F2F2"/>
          </a:solidFill>
          <a:ln w="12700">
            <a:solidFill>
              <a:srgbClr val="B9C2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1545336"/>
            <a:ext cx="146304" cy="146304"/>
          </a:xfrm>
          <a:prstGeom prst="ellipse">
            <a:avLst/>
          </a:prstGeom>
          <a:solidFill>
            <a:srgbClr val="C795E3"/>
          </a:solidFill>
          <a:ln w="12700">
            <a:solidFill>
              <a:srgbClr val="C795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481328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Lists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46320" y="1847088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queues &amp; stacks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1371600"/>
            <a:ext cx="1956816" cy="896112"/>
          </a:xfrm>
          <a:prstGeom prst="roundRect">
            <a:avLst>
              <a:gd name="adj" fmla="val 6122"/>
            </a:avLst>
          </a:prstGeom>
          <a:solidFill>
            <a:srgbClr val="F2F2F2"/>
          </a:solidFill>
          <a:ln w="12700">
            <a:solidFill>
              <a:srgbClr val="B9C2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67728" y="1545336"/>
            <a:ext cx="146304" cy="146304"/>
          </a:xfrm>
          <a:prstGeom prst="ellipse">
            <a:avLst/>
          </a:prstGeom>
          <a:solidFill>
            <a:srgbClr val="163341"/>
          </a:solidFill>
          <a:ln w="12700">
            <a:solidFill>
              <a:srgbClr val="1633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1481328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986016" y="1847088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membership, tags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2414016"/>
            <a:ext cx="1956816" cy="896112"/>
          </a:xfrm>
          <a:prstGeom prst="roundRect">
            <a:avLst>
              <a:gd name="adj" fmla="val 6122"/>
            </a:avLst>
          </a:prstGeom>
          <a:solidFill>
            <a:srgbClr val="F2F2F2"/>
          </a:solidFill>
          <a:ln w="12700">
            <a:solidFill>
              <a:srgbClr val="B9C2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587752"/>
            <a:ext cx="146304" cy="146304"/>
          </a:xfrm>
          <a:prstGeom prst="ellipse">
            <a:avLst/>
          </a:prstGeom>
          <a:solidFill>
            <a:srgbClr val="0F7B8F"/>
          </a:solidFill>
          <a:ln w="12700">
            <a:solidFill>
              <a:srgbClr val="0F7B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252374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Sorted sets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6928" y="2889504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leaderboards, ranking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23744" y="2414016"/>
            <a:ext cx="1956816" cy="896112"/>
          </a:xfrm>
          <a:prstGeom prst="roundRect">
            <a:avLst>
              <a:gd name="adj" fmla="val 6122"/>
            </a:avLst>
          </a:prstGeom>
          <a:solidFill>
            <a:srgbClr val="FF4438"/>
          </a:solidFill>
          <a:ln w="19050">
            <a:solidFill>
              <a:srgbClr val="FF44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88336" y="258775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252374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Streams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06624" y="2889504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append-only event log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414016"/>
            <a:ext cx="1956816" cy="896112"/>
          </a:xfrm>
          <a:prstGeom prst="roundRect">
            <a:avLst>
              <a:gd name="adj" fmla="val 6122"/>
            </a:avLst>
          </a:prstGeom>
          <a:solidFill>
            <a:srgbClr val="F2F2F2"/>
          </a:solidFill>
          <a:ln w="12700">
            <a:solidFill>
              <a:srgbClr val="B9C2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8032" y="2587752"/>
            <a:ext cx="146304" cy="146304"/>
          </a:xfrm>
          <a:prstGeom prst="ellipse">
            <a:avLst/>
          </a:prstGeom>
          <a:solidFill>
            <a:srgbClr val="80DBFF"/>
          </a:solidFill>
          <a:ln w="12700">
            <a:solidFill>
              <a:srgbClr val="80D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65776" y="252374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JSON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846320" y="2889504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03136" y="2414016"/>
            <a:ext cx="1956816" cy="896112"/>
          </a:xfrm>
          <a:prstGeom prst="roundRect">
            <a:avLst>
              <a:gd name="adj" fmla="val 6122"/>
            </a:avLst>
          </a:prstGeom>
          <a:solidFill>
            <a:srgbClr val="F2F2F2"/>
          </a:solidFill>
          <a:ln w="12700">
            <a:solidFill>
              <a:srgbClr val="B9C2C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67728" y="2587752"/>
            <a:ext cx="146304" cy="146304"/>
          </a:xfrm>
          <a:prstGeom prst="ellipse">
            <a:avLst/>
          </a:prstGeom>
          <a:solidFill>
            <a:srgbClr val="C795E3"/>
          </a:solidFill>
          <a:ln w="12700">
            <a:solidFill>
              <a:srgbClr val="C795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05472" y="252374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Vectors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986016" y="2889504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similarity &amp; AI search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84048" y="3456432"/>
            <a:ext cx="1956816" cy="896112"/>
          </a:xfrm>
          <a:prstGeom prst="roundRect">
            <a:avLst>
              <a:gd name="adj" fmla="val 6122"/>
            </a:avLst>
          </a:prstGeom>
          <a:solidFill>
            <a:srgbClr val="F2F2F2"/>
          </a:solidFill>
          <a:ln w="12700">
            <a:solidFill>
              <a:srgbClr val="B9C2C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3630168"/>
            <a:ext cx="146304" cy="146304"/>
          </a:xfrm>
          <a:prstGeom prst="ellipse">
            <a:avLst/>
          </a:prstGeom>
          <a:solidFill>
            <a:srgbClr val="163341"/>
          </a:solidFill>
          <a:ln w="12700">
            <a:solidFill>
              <a:srgbClr val="1633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356616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Geospatial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66928" y="3931920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location queries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23744" y="3456432"/>
            <a:ext cx="1956816" cy="896112"/>
          </a:xfrm>
          <a:prstGeom prst="roundRect">
            <a:avLst>
              <a:gd name="adj" fmla="val 6122"/>
            </a:avLst>
          </a:prstGeom>
          <a:solidFill>
            <a:srgbClr val="F2F2F2"/>
          </a:solidFill>
          <a:ln w="12700">
            <a:solidFill>
              <a:srgbClr val="B9C2C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88336" y="3630168"/>
            <a:ext cx="146304" cy="146304"/>
          </a:xfrm>
          <a:prstGeom prst="ellipse">
            <a:avLst/>
          </a:prstGeom>
          <a:solidFill>
            <a:srgbClr val="0F7B8F"/>
          </a:solidFill>
          <a:ln w="12700">
            <a:solidFill>
              <a:srgbClr val="0F7B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356616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Time series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2706624" y="3931920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metrics over time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3456432"/>
            <a:ext cx="1956816" cy="896112"/>
          </a:xfrm>
          <a:prstGeom prst="roundRect">
            <a:avLst>
              <a:gd name="adj" fmla="val 6122"/>
            </a:avLst>
          </a:prstGeom>
          <a:solidFill>
            <a:srgbClr val="F2F2F2"/>
          </a:solidFill>
          <a:ln w="12700">
            <a:solidFill>
              <a:srgbClr val="B9C2C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28032" y="3630168"/>
            <a:ext cx="146304" cy="146304"/>
          </a:xfrm>
          <a:prstGeom prst="ellipse">
            <a:avLst/>
          </a:prstGeom>
          <a:solidFill>
            <a:srgbClr val="80DBFF"/>
          </a:solidFill>
          <a:ln w="12700">
            <a:solidFill>
              <a:srgbClr val="80DB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65776" y="356616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Pub/Sub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4846320" y="3931920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fire-and-forget msgs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03136" y="3456432"/>
            <a:ext cx="1956816" cy="896112"/>
          </a:xfrm>
          <a:prstGeom prst="roundRect">
            <a:avLst>
              <a:gd name="adj" fmla="val 6122"/>
            </a:avLst>
          </a:prstGeom>
          <a:solidFill>
            <a:srgbClr val="F2F2F2"/>
          </a:solidFill>
          <a:ln w="12700">
            <a:solidFill>
              <a:srgbClr val="B9C2C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67728" y="3630168"/>
            <a:ext cx="146304" cy="146304"/>
          </a:xfrm>
          <a:prstGeom prst="ellipse">
            <a:avLst/>
          </a:prstGeom>
          <a:solidFill>
            <a:srgbClr val="C795E3"/>
          </a:solidFill>
          <a:ln w="12700">
            <a:solidFill>
              <a:srgbClr val="C795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05472" y="356616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Probabilistic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6986016" y="3931920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Bloom, HyperLogLog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84048" y="4535424"/>
            <a:ext cx="8375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Today's talk lives in the red one — the Stream.</a:t>
            </a:r>
            <a:endParaRPr lang="en-US" sz="1200" dirty="0"/>
          </a:p>
        </p:txBody>
      </p:sp>
      <p:pic>
        <p:nvPicPr>
          <p:cNvPr id="53" name="Image 0" descr="/private/tmp/claude-502/-Users-jeremy-plichta-git-eda-with-redis-streams/7311b6c2-0fa9-4eba-8e1d-a004b5e1d2ab/scratchpad/deckbuild/assets/redis-logo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4718304"/>
            <a:ext cx="642733" cy="201168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1115568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55" name="Text 52"/>
          <p:cNvSpPr/>
          <p:nvPr/>
        </p:nvSpPr>
        <p:spPr>
          <a:xfrm>
            <a:off x="8732520" y="47548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 Streams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first-class event log inside the Redis you already run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93192" y="1417320"/>
            <a:ext cx="2615184" cy="2788920"/>
          </a:xfrm>
          <a:prstGeom prst="roundRect">
            <a:avLst>
              <a:gd name="adj" fmla="val 2797"/>
            </a:avLst>
          </a:prstGeom>
          <a:solidFill>
            <a:srgbClr val="163341"/>
          </a:solidFill>
          <a:ln w="12700">
            <a:solidFill>
              <a:srgbClr val="DCFF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55064"/>
            <a:ext cx="109728" cy="109728"/>
          </a:xfrm>
          <a:prstGeom prst="ellipse">
            <a:avLst/>
          </a:prstGeom>
          <a:solidFill>
            <a:srgbClr val="DCFF1E"/>
          </a:solidFill>
          <a:ln w="12700">
            <a:solidFill>
              <a:srgbClr val="DCF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APPEND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2648" y="2020824"/>
            <a:ext cx="21762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 events with XADD. Every entry is time-ordered and gets a unique ID — an append-only log.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64408" y="1417320"/>
            <a:ext cx="2615184" cy="2788920"/>
          </a:xfrm>
          <a:prstGeom prst="roundRect">
            <a:avLst>
              <a:gd name="adj" fmla="val 2797"/>
            </a:avLst>
          </a:prstGeom>
          <a:solidFill>
            <a:srgbClr val="163341"/>
          </a:solidFill>
          <a:ln w="12700">
            <a:solidFill>
              <a:srgbClr val="DCFF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65576" y="1655064"/>
            <a:ext cx="109728" cy="109728"/>
          </a:xfrm>
          <a:prstGeom prst="ellipse">
            <a:avLst/>
          </a:prstGeom>
          <a:solidFill>
            <a:srgbClr val="DCFF1E"/>
          </a:solidFill>
          <a:ln w="12700">
            <a:solidFill>
              <a:srgbClr val="DCFF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8456" y="160020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FAN-OUT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83864" y="2020824"/>
            <a:ext cx="21762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Many consumer groups read the same stream independently with XREADGROUP. One log, many readers.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35624" y="1417320"/>
            <a:ext cx="2615184" cy="2788920"/>
          </a:xfrm>
          <a:prstGeom prst="roundRect">
            <a:avLst>
              <a:gd name="adj" fmla="val 2797"/>
            </a:avLst>
          </a:prstGeom>
          <a:solidFill>
            <a:srgbClr val="163341"/>
          </a:solidFill>
          <a:ln w="12700">
            <a:solidFill>
              <a:srgbClr val="DCFF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36792" y="1655064"/>
            <a:ext cx="109728" cy="109728"/>
          </a:xfrm>
          <a:prstGeom prst="ellipse">
            <a:avLst/>
          </a:prstGeom>
          <a:solidFill>
            <a:srgbClr val="DCFF1E"/>
          </a:solidFill>
          <a:ln w="12700">
            <a:solidFill>
              <a:srgbClr val="DCFF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60020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REPLAY &amp; RECOVER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5080" y="2020824"/>
            <a:ext cx="21762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Each group tracks its own position, so consumers can fall behind, catch up, and replay history.</a:t>
            </a:r>
            <a:endParaRPr lang="en-US" sz="1250" dirty="0"/>
          </a:p>
        </p:txBody>
      </p:sp>
      <p:pic>
        <p:nvPicPr>
          <p:cNvPr id="16" name="Image 0" descr="/private/tmp/claude-502/-Users-jeremy-plichta-git-eda-with-redis-streams/7311b6c2-0fa9-4eba-8e1d-a004b5e1d2ab/scratchpad/deckbuild/assets/redis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4718304"/>
            <a:ext cx="642733" cy="2011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15568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8732520" y="47548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 Streams in the wild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teams run on Redis Streams — anonymized by industry + use case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93192" y="1417320"/>
            <a:ext cx="2615184" cy="2697480"/>
          </a:xfrm>
          <a:prstGeom prst="roundRect">
            <a:avLst>
              <a:gd name="adj" fmla="val 2797"/>
            </a:avLst>
          </a:prstGeom>
          <a:solidFill>
            <a:srgbClr val="F2F2F2"/>
          </a:solidFill>
          <a:ln w="12700">
            <a:solidFill>
              <a:srgbClr val="B9C2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1417320"/>
            <a:ext cx="2615184" cy="54864"/>
          </a:xfrm>
          <a:prstGeom prst="rect">
            <a:avLst/>
          </a:prstGeom>
          <a:solidFill>
            <a:srgbClr val="FF4438"/>
          </a:solidFill>
          <a:ln w="12700">
            <a:solidFill>
              <a:srgbClr val="FF44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673352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&lt; 4 ms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76072" y="231343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Redis-tier latency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278892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100% Redis Streams platform for OPRA options &amp; equities market data — sub-4 ms Redis latency inside a &lt;100 ms end-to-end SLA, zero packet loss.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378561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CAPITAL MARKETS · MARKET DATA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64408" y="1417320"/>
            <a:ext cx="2615184" cy="2697480"/>
          </a:xfrm>
          <a:prstGeom prst="roundRect">
            <a:avLst>
              <a:gd name="adj" fmla="val 2797"/>
            </a:avLst>
          </a:prstGeom>
          <a:solidFill>
            <a:srgbClr val="F2F2F2"/>
          </a:solidFill>
          <a:ln w="12700">
            <a:solidFill>
              <a:srgbClr val="B9C2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4408" y="1417320"/>
            <a:ext cx="2615184" cy="54864"/>
          </a:xfrm>
          <a:prstGeom prst="rect">
            <a:avLst/>
          </a:prstGeom>
          <a:solidFill>
            <a:srgbClr val="FF4438"/>
          </a:solidFill>
          <a:ln w="12700">
            <a:solidFill>
              <a:srgbClr val="FF44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1673352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~100 ms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447288" y="231343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end-to-end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7288" y="278892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Order orchestration on Redis Streams — thousands of order events per second, at 99.99% accuracy.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47288" y="378561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RETAIL · ORDER FULFILLMENT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35624" y="1417320"/>
            <a:ext cx="2615184" cy="2697480"/>
          </a:xfrm>
          <a:prstGeom prst="roundRect">
            <a:avLst>
              <a:gd name="adj" fmla="val 2797"/>
            </a:avLst>
          </a:prstGeom>
          <a:solidFill>
            <a:srgbClr val="F2F2F2"/>
          </a:solidFill>
          <a:ln w="12700">
            <a:solidFill>
              <a:srgbClr val="B9C2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35624" y="1417320"/>
            <a:ext cx="2615184" cy="54864"/>
          </a:xfrm>
          <a:prstGeom prst="rect">
            <a:avLst/>
          </a:prstGeom>
          <a:solidFill>
            <a:srgbClr val="FF4438"/>
          </a:solidFill>
          <a:ln w="12700">
            <a:solidFill>
              <a:srgbClr val="FF44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1673352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sub-ms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318504" y="231343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responses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18504" y="278892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Millions of commands per execution cycle streamed through Redis Streams, sub-millisecond across the pipeline.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18504" y="378561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SAAS · GTM ORCHESTRATION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048" y="43159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Anonymized. Published case studies and closed, validated deals.</a:t>
            </a:r>
            <a:endParaRPr lang="en-US" sz="900" dirty="0"/>
          </a:p>
        </p:txBody>
      </p:sp>
      <p:pic>
        <p:nvPicPr>
          <p:cNvPr id="23" name="Image 0" descr="/private/tmp/claude-502/-Users-jeremy-plichta-git-eda-with-redis-streams/7311b6c2-0fa9-4eba-8e1d-a004b5e1d2ab/scratchpad/deckbuild/assets/redis-logo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4718304"/>
            <a:ext cx="642733" cy="20116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15568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8732520" y="47548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Korvet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Kafka on Redis — speak the Kafka protocol, store in Redis Streams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4048" y="1325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4048" y="1618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Kafka-compatible broker backed by Redis Streams. Existing Kafka clients and CLI tools connect to it exactly as they would to Kafka.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84048" y="23682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changes in your 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660904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Only bootstrap.servers — the client code is unchanged</a:t>
            </a:r>
            <a:endParaRPr lang="en-US" sz="125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Kafka cluster, no ZooKeeper or KRaft to operate</a:t>
            </a:r>
            <a:endParaRPr lang="en-US" sz="125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 is the log; each topic is stored as a Redis Stream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37307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4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note on performance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4023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Korvet's published figures are stated design targets, and there's no official head-to-head with Kafka — so we'll measure it live rather than quote a number.</a:t>
            </a:r>
            <a:endParaRPr lang="en-US" sz="1250" dirty="0"/>
          </a:p>
        </p:txBody>
      </p:sp>
      <p:pic>
        <p:nvPicPr>
          <p:cNvPr id="10" name="Image 0" descr="/private/tmp/claude-502/-Users-jeremy-plichta-git-eda-with-redis-streams/7311b6c2-0fa9-4eba-8e1d-a004b5e1d2ab/scratchpad/deckbuild/assets/redis-logo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4718304"/>
            <a:ext cx="642733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5568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8732520" y="47548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Korvet, proven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Kafka tools — Redis Streams underneath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926080" cy="1554480"/>
          </a:xfrm>
          <a:prstGeom prst="roundRect">
            <a:avLst>
              <a:gd name="adj" fmla="val 5882"/>
            </a:avLst>
          </a:prstGeom>
          <a:solidFill>
            <a:srgbClr val="163341"/>
          </a:solidFill>
          <a:ln w="12700">
            <a:solidFill>
              <a:srgbClr val="B9C2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476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18541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~26 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2953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Kafka-compatible service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2148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394960" y="1783080"/>
            <a:ext cx="2926080" cy="1554480"/>
          </a:xfrm>
          <a:prstGeom prst="roundRect">
            <a:avLst>
              <a:gd name="adj" fmla="val 5882"/>
            </a:avLst>
          </a:prstGeom>
          <a:solidFill>
            <a:srgbClr val="FF4438"/>
          </a:solidFill>
          <a:ln w="12700">
            <a:solidFill>
              <a:srgbClr val="FF44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9476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AFTER — KORVET ON REDIS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94960" y="218541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2–3 ms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5394960" y="2953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existing Kafka clients, unchanged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End-to-end read latency in a proof of concept for a network-security vendor's log pipeline.  </a:t>
            </a:r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 Streams runs in milliseconds — vs Kafka's typical 10–100 ms.</a:t>
            </a:r>
            <a:endParaRPr lang="en-US" sz="1300" dirty="0"/>
          </a:p>
        </p:txBody>
      </p:sp>
      <p:pic>
        <p:nvPicPr>
          <p:cNvPr id="14" name="Image 0" descr="/private/tmp/claude-502/-Users-jeremy-plichta-git-eda-with-redis-streams/7311b6c2-0fa9-4eba-8e1d-a004b5e1d2ab/scratchpad/deckbuild/assets/redis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4718304"/>
            <a:ext cx="642733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15568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8732520" y="47548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Korvet maps Kafka to Redis Streams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is what Korvet does under the hood — your Kafka client is unchanged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89888"/>
            <a:ext cx="3383280" cy="457200"/>
          </a:xfrm>
          <a:prstGeom prst="rect">
            <a:avLst/>
          </a:prstGeom>
          <a:solidFill>
            <a:srgbClr val="163341"/>
          </a:solidFill>
          <a:ln w="12700">
            <a:solidFill>
              <a:srgbClr val="1633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898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Kafka topic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836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split into partitions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120640" y="1389888"/>
            <a:ext cx="3383280" cy="457200"/>
          </a:xfrm>
          <a:prstGeom prst="rect">
            <a:avLst/>
          </a:prstGeom>
          <a:solidFill>
            <a:srgbClr val="FF4438"/>
          </a:solidFill>
          <a:ln w="12700">
            <a:solidFill>
              <a:srgbClr val="FF44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3898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Redis Streams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18836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per partition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212848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5875">
            <a:solidFill>
              <a:srgbClr val="B9C2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128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Partition 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60520" y="22128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=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120640" y="2212848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5875">
            <a:solidFill>
              <a:srgbClr val="FF44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22128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91A2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stream  payments:0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761488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5875">
            <a:solidFill>
              <a:srgbClr val="B9C2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7614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Partition 1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60520" y="27614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=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120640" y="2761488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5875">
            <a:solidFill>
              <a:srgbClr val="FF44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7614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91A2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stream  payments:1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310128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5875">
            <a:solidFill>
              <a:srgbClr val="B9C2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310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Partition 2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60520" y="33101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=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120640" y="3310128"/>
            <a:ext cx="3383280" cy="4572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5875">
            <a:solidFill>
              <a:srgbClr val="FF44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3310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91A2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stream  payments:2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9502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Everything else lines up 1:1:  </a:t>
            </a:r>
            <a:pPr indent="0" marL="0">
              <a:buNone/>
            </a:pPr>
            <a:r>
              <a:rPr lang="en-US" sz="11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producer → </a:t>
            </a:r>
            <a:pPr indent="0" marL="0">
              <a:buNone/>
            </a:pPr>
            <a:r>
              <a:rPr lang="en-US" sz="1100" dirty="0">
                <a:solidFill>
                  <a:srgbClr val="091A2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XADD</a:t>
            </a:r>
            <a:pPr indent="0" marL="0">
              <a:buNone/>
            </a:pPr>
            <a:r>
              <a:rPr lang="en-US" sz="11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 consumer → </a:t>
            </a:r>
            <a:pPr indent="0" marL="0">
              <a:buNone/>
            </a:pPr>
            <a:r>
              <a:rPr lang="en-US" sz="1100" dirty="0">
                <a:solidFill>
                  <a:srgbClr val="091A2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XREAD / XREADGROUP</a:t>
            </a:r>
            <a:pPr indent="0" marL="0">
              <a:buNone/>
            </a:pPr>
            <a:r>
              <a:rPr lang="en-US" sz="11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 consumer groups and offsets are the same.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279392"/>
            <a:ext cx="7863840" cy="457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5875">
            <a:solidFill>
              <a:srgbClr val="DCFF1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4416552"/>
            <a:ext cx="128016" cy="128016"/>
          </a:xfrm>
          <a:prstGeom prst="ellipse">
            <a:avLst/>
          </a:prstGeom>
          <a:solidFill>
            <a:srgbClr val="DCFF1E"/>
          </a:solidFill>
          <a:ln w="12700">
            <a:solidFill>
              <a:srgbClr val="DCFF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" y="4306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one difference:  </a:t>
            </a:r>
            <a:pPr indent="0" marL="0">
              <a:buNone/>
            </a:pPr>
            <a:r>
              <a:rPr lang="en-US" sz="11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Korvet stores each partition as one Redis Stream. Use Redis Streams directly (the demo's native lane) and there are no topics or partitions — just streams.</a:t>
            </a:r>
            <a:endParaRPr lang="en-US" sz="1100" dirty="0"/>
          </a:p>
        </p:txBody>
      </p:sp>
      <p:pic>
        <p:nvPicPr>
          <p:cNvPr id="29" name="Image 0" descr="/private/tmp/claude-502/-Users-jeremy-plichta-git-eda-with-redis-streams/7311b6c2-0fa9-4eba-8e1d-a004b5e1d2ab/scratchpad/deckbuild/assets/redis-logo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4718304"/>
            <a:ext cx="642733" cy="20116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15568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8732520" y="47548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they fit together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ways to run the very same workload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84048" y="1417320"/>
            <a:ext cx="3977640" cy="2148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91A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417320"/>
            <a:ext cx="3977640" cy="54864"/>
          </a:xfrm>
          <a:prstGeom prst="rect">
            <a:avLst/>
          </a:prstGeom>
          <a:solidFill>
            <a:srgbClr val="0F7B8F"/>
          </a:solidFill>
          <a:ln w="12700">
            <a:solidFill>
              <a:srgbClr val="0F7B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61848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Lane A · Redis Streams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194767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native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" y="228600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Java producer appends to a transactions stream; consumer groups read it. Pure Redis, XADD to XREADGROUP.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82312" y="1417320"/>
            <a:ext cx="3977640" cy="2148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91A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2312" y="1417320"/>
            <a:ext cx="3977640" cy="54864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61848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Lane B · Kafka on Redis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94767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via Korvet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228600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standard Kafka client produces to a Korvet topic and a Kafka consumer reads it. Only bootstrap.servers differs.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4048" y="3794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Both lanes carry an identical stream of events — so we can compare them side by side.</a:t>
            </a:r>
            <a:endParaRPr lang="en-US" sz="1300" dirty="0"/>
          </a:p>
        </p:txBody>
      </p:sp>
      <p:pic>
        <p:nvPicPr>
          <p:cNvPr id="15" name="Image 0" descr="/private/tmp/claude-502/-Users-jeremy-plichta-git-eda-with-redis-streams/7311b6c2-0fa9-4eba-8e1d-a004b5e1d2ab/scratchpad/deckbuild/assets/redis-logo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4718304"/>
            <a:ext cx="642733" cy="2011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15568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8732520" y="47548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Redis behind both lanes — each feeds one live timing 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4048" y="118872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F7B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LANE A · NATIVE REDIS STREAMS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84048" y="1408176"/>
            <a:ext cx="1143000" cy="585216"/>
          </a:xfrm>
          <a:prstGeom prst="roundRect">
            <a:avLst>
              <a:gd name="adj" fmla="val 7813"/>
            </a:avLst>
          </a:prstGeom>
          <a:solidFill>
            <a:srgbClr val="F2F2F2"/>
          </a:solidFill>
          <a:ln w="15875">
            <a:solidFill>
              <a:srgbClr val="B9C2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408176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47088" y="1408176"/>
            <a:ext cx="1371600" cy="585216"/>
          </a:xfrm>
          <a:prstGeom prst="roundRect">
            <a:avLst>
              <a:gd name="adj" fmla="val 7813"/>
            </a:avLst>
          </a:prstGeom>
          <a:solidFill>
            <a:srgbClr val="FDECEA"/>
          </a:solidFill>
          <a:ln w="15875">
            <a:solidFill>
              <a:srgbClr val="FF44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47088" y="14996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83664" y="174650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 Stream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84448" y="1408176"/>
            <a:ext cx="2514600" cy="585216"/>
          </a:xfrm>
          <a:prstGeom prst="roundRect">
            <a:avLst>
              <a:gd name="adj" fmla="val 7813"/>
            </a:avLst>
          </a:prstGeom>
          <a:solidFill>
            <a:srgbClr val="F2F2F2"/>
          </a:solidFill>
          <a:ln w="15875">
            <a:solidFill>
              <a:srgbClr val="B9C2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149961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consumer groups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21024" y="1746504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metrics · alerts · monitor · probe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527048" y="1700784"/>
            <a:ext cx="320040" cy="0"/>
          </a:xfrm>
          <a:prstGeom prst="line">
            <a:avLst/>
          </a:prstGeom>
          <a:noFill/>
          <a:ln w="19050">
            <a:solidFill>
              <a:srgbClr val="8896A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18688" y="1700784"/>
            <a:ext cx="365760" cy="0"/>
          </a:xfrm>
          <a:prstGeom prst="line">
            <a:avLst/>
          </a:prstGeom>
          <a:noFill/>
          <a:ln w="19050">
            <a:solidFill>
              <a:srgbClr val="8896A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99048" y="1700784"/>
            <a:ext cx="420624" cy="292608"/>
          </a:xfrm>
          <a:prstGeom prst="line">
            <a:avLst/>
          </a:prstGeom>
          <a:noFill/>
          <a:ln w="19050">
            <a:solidFill>
              <a:srgbClr val="8896A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84048" y="203911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7B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XADD to append   ·   XREADGROUP to read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2432304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3E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LANE B · KAFKA ON REDIS (KORVET)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651760"/>
            <a:ext cx="1417320" cy="585216"/>
          </a:xfrm>
          <a:prstGeom prst="roundRect">
            <a:avLst>
              <a:gd name="adj" fmla="val 7813"/>
            </a:avLst>
          </a:prstGeom>
          <a:solidFill>
            <a:srgbClr val="F2F2F2"/>
          </a:solidFill>
          <a:ln w="15875">
            <a:solidFill>
              <a:srgbClr val="B9C2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65176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kafka-producer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67128" y="2651760"/>
            <a:ext cx="1737360" cy="585216"/>
          </a:xfrm>
          <a:prstGeom prst="roundRect">
            <a:avLst>
              <a:gd name="adj" fmla="val 7813"/>
            </a:avLst>
          </a:prstGeom>
          <a:solidFill>
            <a:srgbClr val="EFEAFE"/>
          </a:solidFill>
          <a:ln w="15875">
            <a:solidFill>
              <a:srgbClr val="8A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67128" y="27432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2A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Korvet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03704" y="29900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topic: kafka-transactions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70248" y="2651760"/>
            <a:ext cx="1554480" cy="585216"/>
          </a:xfrm>
          <a:prstGeom prst="roundRect">
            <a:avLst>
              <a:gd name="adj" fmla="val 7813"/>
            </a:avLst>
          </a:prstGeom>
          <a:solidFill>
            <a:srgbClr val="F2F2F2"/>
          </a:solidFill>
          <a:ln w="15875">
            <a:solidFill>
              <a:srgbClr val="B9C2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0248" y="2651760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kafka-probe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01368" y="2944368"/>
            <a:ext cx="365760" cy="0"/>
          </a:xfrm>
          <a:prstGeom prst="line">
            <a:avLst/>
          </a:prstGeom>
          <a:noFill/>
          <a:ln w="19050">
            <a:solidFill>
              <a:srgbClr val="8896A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904488" y="2944368"/>
            <a:ext cx="365760" cy="0"/>
          </a:xfrm>
          <a:prstGeom prst="line">
            <a:avLst/>
          </a:prstGeom>
          <a:noFill/>
          <a:ln w="19050">
            <a:solidFill>
              <a:srgbClr val="8896A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824728" y="2944368"/>
            <a:ext cx="694944" cy="-246888"/>
          </a:xfrm>
          <a:prstGeom prst="line">
            <a:avLst/>
          </a:prstGeom>
          <a:noFill/>
          <a:ln w="19050">
            <a:solidFill>
              <a:srgbClr val="8896A0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84048" y="328269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3EA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standard Kafka client — only bootstrap.servers changes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19672" y="1408176"/>
            <a:ext cx="2240280" cy="2487168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25400">
            <a:solidFill>
              <a:srgbClr val="FF44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65976" y="153619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Monitor API → Dashboard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65976" y="179222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end-to-end latency, per lane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65976" y="2048256"/>
            <a:ext cx="1947672" cy="0"/>
          </a:xfrm>
          <a:prstGeom prst="line">
            <a:avLst/>
          </a:prstGeom>
          <a:noFill/>
          <a:ln w="9525">
            <a:solidFill>
              <a:srgbClr val="B9C2C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65976" y="2212848"/>
            <a:ext cx="128016" cy="128016"/>
          </a:xfrm>
          <a:prstGeom prst="rect">
            <a:avLst/>
          </a:prstGeom>
          <a:solidFill>
            <a:srgbClr val="0F7B8F"/>
          </a:solidFill>
          <a:ln w="12700">
            <a:solidFill>
              <a:srgbClr val="0F7B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67144" y="21762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 Streams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65976" y="2542032"/>
            <a:ext cx="128016" cy="128016"/>
          </a:xfrm>
          <a:prstGeom prst="rect">
            <a:avLst/>
          </a:prstGeom>
          <a:solidFill>
            <a:srgbClr val="8A5CF6"/>
          </a:solidFill>
          <a:ln w="12700">
            <a:solidFill>
              <a:srgbClr val="8A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67144" y="25054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Korvet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65976" y="29260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p50 · p95 · throughput,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measured live and side by side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4048" y="4160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Redis backs both lanes: the transactions stream and Korvet's topic storage (korvet:storage:local:kafka-transactions:0).</a:t>
            </a:r>
            <a:endParaRPr lang="en-US" sz="900" dirty="0"/>
          </a:p>
        </p:txBody>
      </p:sp>
      <p:pic>
        <p:nvPicPr>
          <p:cNvPr id="39" name="Image 0" descr="/private/tmp/claude-502/-Users-jeremy-plichta-git-eda-with-redis-streams/7311b6c2-0fa9-4eba-8e1d-a004b5e1d2ab/scratchpad/deckbuild/assets/redis-logo-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4718304"/>
            <a:ext cx="642733" cy="201168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115568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8732520" y="47548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C7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1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you'll see in the demo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Fast, resilient, and simple — with the Redis you already run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93192" y="1417320"/>
            <a:ext cx="2615184" cy="2788920"/>
          </a:xfrm>
          <a:prstGeom prst="roundRect">
            <a:avLst>
              <a:gd name="adj" fmla="val 2797"/>
            </a:avLst>
          </a:prstGeom>
          <a:solidFill>
            <a:srgbClr val="163341"/>
          </a:solidFill>
          <a:ln w="12700">
            <a:solidFill>
              <a:srgbClr val="DCFF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55064"/>
            <a:ext cx="109728" cy="109728"/>
          </a:xfrm>
          <a:prstGeom prst="ellipse">
            <a:avLst/>
          </a:prstGeom>
          <a:solidFill>
            <a:srgbClr val="DCFF1E"/>
          </a:solidFill>
          <a:ln w="12700">
            <a:solidFill>
              <a:srgbClr val="DCF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IN MILLISECONDS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12648" y="2020824"/>
            <a:ext cx="21762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Events flow through Redis and the timing panel shows produce-to-consume latency live — microseconds on the Redis lane, well inside a tight SLA.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64408" y="1417320"/>
            <a:ext cx="2615184" cy="2788920"/>
          </a:xfrm>
          <a:prstGeom prst="roundRect">
            <a:avLst>
              <a:gd name="adj" fmla="val 2797"/>
            </a:avLst>
          </a:prstGeom>
          <a:solidFill>
            <a:srgbClr val="163341"/>
          </a:solidFill>
          <a:ln w="12700">
            <a:solidFill>
              <a:srgbClr val="DCFF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65576" y="1655064"/>
            <a:ext cx="109728" cy="109728"/>
          </a:xfrm>
          <a:prstGeom prst="ellipse">
            <a:avLst/>
          </a:prstGeom>
          <a:solidFill>
            <a:srgbClr val="DCFF1E"/>
          </a:solidFill>
          <a:ln w="12700">
            <a:solidFill>
              <a:srgbClr val="DCFF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8456" y="160020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RESILIENT — NO LOST EVENTS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83864" y="2020824"/>
            <a:ext cx="21762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Stop a worker: the backlog rises, then drains when it returns. Consumer groups and acks mean nothing is dropped — a missed event is not a lost one.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35624" y="1417320"/>
            <a:ext cx="2615184" cy="2788920"/>
          </a:xfrm>
          <a:prstGeom prst="roundRect">
            <a:avLst>
              <a:gd name="adj" fmla="val 2797"/>
            </a:avLst>
          </a:prstGeom>
          <a:solidFill>
            <a:srgbClr val="163341"/>
          </a:solidFill>
          <a:ln w="12700">
            <a:solidFill>
              <a:srgbClr val="DCFF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36792" y="1655064"/>
            <a:ext cx="109728" cy="109728"/>
          </a:xfrm>
          <a:prstGeom prst="ellipse">
            <a:avLst/>
          </a:prstGeom>
          <a:solidFill>
            <a:srgbClr val="DCFF1E"/>
          </a:solidFill>
          <a:ln w="12700">
            <a:solidFill>
              <a:srgbClr val="DCFF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60020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SIMPLE AT SCALE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5080" y="2020824"/>
            <a:ext cx="21762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Redis, fan-out to many consumer groups. The same code scales out with Redis Cluster and more consumers — nothing extra to operate.</a:t>
            </a:r>
            <a:endParaRPr lang="en-US" sz="1250" dirty="0"/>
          </a:p>
        </p:txBody>
      </p:sp>
      <p:pic>
        <p:nvPicPr>
          <p:cNvPr id="16" name="Image 0" descr="/private/tmp/claude-502/-Users-jeremy-plichta-git-eda-with-redis-streams/7311b6c2-0fa9-4eba-8e1d-a004b5e1d2ab/scratchpad/deckbuild/assets/redis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4718304"/>
            <a:ext cx="642733" cy="2011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15568" y="47548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8732520" y="47548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9C2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4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jeremy-plichta-git-eda-with-redis-streams/7311b6c2-0fa9-4eba-8e1d-a004b5e1d2ab/scratchpad/deckbuild/assets/redis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65760"/>
            <a:ext cx="1051745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things to take away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20624" y="1920240"/>
            <a:ext cx="310896" cy="310896"/>
          </a:xfrm>
          <a:prstGeom prst="ellipse">
            <a:avLst/>
          </a:prstGeom>
          <a:solidFill>
            <a:srgbClr val="DCFF1E"/>
          </a:solidFill>
          <a:ln w="12700">
            <a:solidFill>
              <a:srgbClr val="DCFF1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20624" y="1911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 Streams is a real event log — in the Redis you already run.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20624" y="2697480"/>
            <a:ext cx="310896" cy="310896"/>
          </a:xfrm>
          <a:prstGeom prst="ellipse">
            <a:avLst/>
          </a:prstGeom>
          <a:solidFill>
            <a:srgbClr val="DCFF1E"/>
          </a:solidFill>
          <a:ln w="12700">
            <a:solidFill>
              <a:srgbClr val="DCFF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0624" y="2688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6517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Korvet runs your existing Kafka apps on Redis — only bootstrap.servers changes.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20624" y="3474720"/>
            <a:ext cx="310896" cy="310896"/>
          </a:xfrm>
          <a:prstGeom prst="ellipse">
            <a:avLst/>
          </a:prstGeom>
          <a:solidFill>
            <a:srgbClr val="DCFF1E"/>
          </a:solidFill>
          <a:ln w="12700">
            <a:solidFill>
              <a:srgbClr val="DCFF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0624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A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34290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Comparable end-to-end latency, with far less to operate.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84048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F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Now — let's look at the demo.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84048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>
                    <a:alpha val="5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© 2026 Redis Ltd. All rights reserved.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2026-07-16T13:28:21Z</dcterms:created>
  <dcterms:modified xsi:type="dcterms:W3CDTF">2026-07-16T13:28:21Z</dcterms:modified>
</cp:coreProperties>
</file>